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Defasagem</c:v>
                </c:pt>
              </c:strCache>
            </c:strRef>
          </c:tx>
          <c:spPr>
            <a:solidFill>
              <a:srgbClr val="B0B8D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0B8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DC-42BC-826B-91B1FE324B24}"/>
              </c:ext>
            </c:extLst>
          </c:dPt>
          <c:dPt>
            <c:idx val="1"/>
            <c:invertIfNegative val="0"/>
            <c:bubble3D val="0"/>
            <c:spPr>
              <a:solidFill>
                <a:srgbClr val="FF0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DC-42BC-826B-91B1FE324B24}"/>
              </c:ext>
            </c:extLst>
          </c:dPt>
          <c:dPt>
            <c:idx val="2"/>
            <c:invertIfNegative val="0"/>
            <c:bubble3D val="0"/>
            <c:spPr>
              <a:solidFill>
                <a:srgbClr val="1B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DC-42BC-826B-91B1FE324B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A0E1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Defasagem Severa (IAN=2,5)</c:v>
                </c:pt>
                <c:pt idx="1">
                  <c:v>Defasagem Moderada (IAN=5)</c:v>
                </c:pt>
                <c:pt idx="2">
                  <c:v>Em Fase (IAN=10)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</c:v>
                </c:pt>
                <c:pt idx="1">
                  <c:v>57.4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DC-42BC-826B-91B1FE324B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0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IAN Médio</c:v>
                </c:pt>
              </c:strCache>
            </c:strRef>
          </c:tx>
          <c:spPr>
            <a:ln w="38100" cap="flat">
              <a:solidFill>
                <a:srgbClr val="FF00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005C"/>
              </a:solidFill>
              <a:ln w="9525" cap="flat">
                <a:solidFill>
                  <a:srgbClr val="FF005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FE-4D57-B2B0-07F749D92AB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1FE-4D57-B2B0-07F749D92AB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716ECE0-B078-41D3-8E70-6D4A72D47A83}" type="VALUE">
                      <a:rPr lang="en-US" smtClean="0"/>
                      <a:pPr/>
                      <a:t>[VALOR]</a:t>
                    </a:fld>
                    <a:r>
                      <a:rPr lang="en-US"/>
                      <a:t>,37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1FE-4D57-B2B0-07F749D92AB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FE-4D57-B2B0-07F749D92ABB}"/>
                </c:ext>
              </c:extLst>
            </c:dLbl>
            <c:dLbl>
              <c:idx val="4"/>
              <c:layout>
                <c:manualLayout>
                  <c:x val="1.7806267806266501E-3"/>
                  <c:y val="-3.1565656565656275E-3"/>
                </c:manualLayout>
              </c:layout>
              <c:tx>
                <c:rich>
                  <a:bodyPr/>
                  <a:lstStyle/>
                  <a:p>
                    <a:fld id="{800F5141-16F3-4E7A-B9F8-A15B79B4C9F8}" type="VALUE">
                      <a:rPr lang="en-US" smtClean="0"/>
                      <a:pPr/>
                      <a:t>[VALOR]</a:t>
                    </a:fld>
                    <a:r>
                      <a:rPr lang="en-US"/>
                      <a:t>,46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1FE-4D57-B2B0-07F749D92AB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A0E1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7.43</c:v>
                </c:pt>
                <c:pt idx="1">
                  <c:v>6.9</c:v>
                </c:pt>
                <c:pt idx="2">
                  <c:v>6.37</c:v>
                </c:pt>
                <c:pt idx="3">
                  <c:v>7.04</c:v>
                </c:pt>
                <c:pt idx="4">
                  <c:v>7.46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FE-4D57-B2B0-07F749D92A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0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1999999999999993"/>
          <c:min val="5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7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47471" y="237744"/>
            <a:ext cx="3310129" cy="32004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9147" y="256032"/>
            <a:ext cx="364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POSTECH · DATATHON FASE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PREDITIVO</a:t>
            </a:r>
            <a:endParaRPr lang="en-US" sz="5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 EDUCACIONAL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34930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· Ciclo 2020–2024 · 4.571 avaliações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4197096"/>
            <a:ext cx="3474720" cy="1719072"/>
          </a:xfrm>
          <a:prstGeom prst="rect">
            <a:avLst/>
          </a:prstGeom>
          <a:solidFill>
            <a:srgbClr val="141A2E"/>
          </a:solidFill>
          <a:ln w="12700">
            <a:solidFill>
              <a:srgbClr val="2129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4197096"/>
            <a:ext cx="54864" cy="171907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428853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DEFASAGEM MODERADA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crítico da 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4197096"/>
            <a:ext cx="3474720" cy="1719072"/>
          </a:xfrm>
          <a:prstGeom prst="rect">
            <a:avLst/>
          </a:prstGeom>
          <a:solidFill>
            <a:srgbClr val="141A2E"/>
          </a:solidFill>
          <a:ln w="12700">
            <a:solidFill>
              <a:srgbClr val="2129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206240" y="4197096"/>
            <a:ext cx="54864" cy="17190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89120" y="428853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89,7%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8912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DO INDE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 4 indicadores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4197096"/>
            <a:ext cx="3474720" cy="1719072"/>
          </a:xfrm>
          <a:prstGeom prst="rect">
            <a:avLst/>
          </a:prstGeom>
          <a:solidFill>
            <a:srgbClr val="141A2E"/>
          </a:solidFill>
          <a:ln w="12700">
            <a:solidFill>
              <a:srgbClr val="2129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46720" y="4197096"/>
            <a:ext cx="54864" cy="171907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29600" y="428853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91,1%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2960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MODELO PREDITIVO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threshold 0,3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6291072"/>
            <a:ext cx="4114800" cy="27432"/>
          </a:xfrm>
          <a:prstGeom prst="rect">
            <a:avLst/>
          </a:prstGeom>
          <a:solidFill>
            <a:srgbClr val="3A4460"/>
          </a:solidFill>
          <a:ln w="12700">
            <a:solidFill>
              <a:srgbClr val="3A4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190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educacional não é aleatório — é estrutural, mensurável e antecipável.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VISÃO GERAL E ESCOPO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 e qual o impacto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</a:t>
            </a:r>
            <a:r>
              <a:rPr lang="en-US" sz="1400" b="1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preditiva</a:t>
            </a: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completa, de 4.571 avaliações ao modelo em produção, com recall de 91,1% na identificação de alunos em risco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11480" y="1956816"/>
            <a:ext cx="292608" cy="29260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1984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7 indicadores PEDE · 11 perguntas respondidas com dados reais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292608" cy="29260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1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2770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explicativa do INDE · correlações e R² progressivo até 89,7%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292608" cy="29260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" y="3557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XGBoost tunado com Optuna · 50 trials · recall 91,1% · ROC AUC 0,86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292608" cy="29260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KMeans k=4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perfis de risco com protocolos de intervenção distintos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5102352"/>
            <a:ext cx="292608" cy="292608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" y="5129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 em produção · Community Cloud · diagnóstico preditivo individualizado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21807" y="1847088"/>
            <a:ext cx="45719" cy="407859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577840" y="18836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ANALÍTICO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3215" y="2606040"/>
            <a:ext cx="731520" cy="731520"/>
          </a:xfrm>
          <a:prstGeom prst="ellipse">
            <a:avLst/>
          </a:prstGeom>
          <a:solidFill>
            <a:srgbClr val="B0B8D4"/>
          </a:solidFill>
          <a:ln w="12700">
            <a:solidFill>
              <a:srgbClr val="B0B8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93215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00607" y="3410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2020–24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43023" y="2862072"/>
            <a:ext cx="438912" cy="219456"/>
          </a:xfrm>
          <a:prstGeom prst="rightArrow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136799" y="2606040"/>
            <a:ext cx="731520" cy="731520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136799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44191" y="3410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86607" y="2862072"/>
            <a:ext cx="438912" cy="219456"/>
          </a:xfrm>
          <a:prstGeom prst="rightArrow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380383" y="2606040"/>
            <a:ext cx="731520" cy="731520"/>
          </a:xfrm>
          <a:prstGeom prst="ellipse">
            <a:avLst/>
          </a:prstGeom>
          <a:solidFill>
            <a:srgbClr val="CC0049"/>
          </a:solidFill>
          <a:ln w="12700">
            <a:solidFill>
              <a:srgbClr val="CC00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380383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087775" y="3410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30191" y="2862072"/>
            <a:ext cx="438912" cy="219456"/>
          </a:xfrm>
          <a:prstGeom prst="rightArrow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9623967" y="2606040"/>
            <a:ext cx="731520" cy="73152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623967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31359" y="3410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373775" y="2862072"/>
            <a:ext cx="438912" cy="219456"/>
          </a:xfrm>
          <a:prstGeom prst="rightArrow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0867551" y="2606040"/>
            <a:ext cx="731520" cy="731520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867551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574943" y="34107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4133088"/>
            <a:ext cx="1536192" cy="1371600"/>
          </a:xfrm>
          <a:prstGeom prst="rect">
            <a:avLst/>
          </a:prstGeom>
          <a:solidFill>
            <a:srgbClr val="E8EDF8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5577840" y="4206240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4.571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5577840" y="49743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05472" y="4133088"/>
            <a:ext cx="1536192" cy="1371600"/>
          </a:xfrm>
          <a:prstGeom prst="rect">
            <a:avLst/>
          </a:prstGeom>
          <a:solidFill>
            <a:srgbClr val="E8EDF8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205472" y="4206240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7205472" y="49743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PEDE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833104" y="4133088"/>
            <a:ext cx="1536192" cy="1371600"/>
          </a:xfrm>
          <a:prstGeom prst="rect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833104" y="4206240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91,1%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8833104" y="49743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MODELO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460736" y="4133088"/>
            <a:ext cx="1536192" cy="1371600"/>
          </a:xfrm>
          <a:prstGeom prst="rect">
            <a:avLst/>
          </a:prstGeom>
          <a:solidFill>
            <a:srgbClr val="FFE4EF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0460736" y="4206240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89,7%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10460736" y="49743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R²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140" y="5977377"/>
            <a:ext cx="11475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02920" y="6059673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4.571 registros (2020 - 2024) · Modelo: XGBoost + KMeans · App: Streamlit Community Cloud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VISÃO GERAL E ESCOPO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PROBLEMA · DISTRIBUIÇÃO IAN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Defasagem dos Alunos (IAN)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 em defasagem moderada — o maior risco sistêmico está no grupo intermediário, não nos 1,6% de casos severos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883664"/>
          <a:ext cx="69494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88366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589520" y="1883664"/>
            <a:ext cx="4206240" cy="6400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680960" y="1993392"/>
            <a:ext cx="4023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41,0%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680960" y="2512314"/>
            <a:ext cx="4023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· IAN = 10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80960" y="280949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1.872 alunos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589520" y="318211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589520" y="3182112"/>
            <a:ext cx="4206240" cy="6400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680960" y="3291840"/>
            <a:ext cx="4023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680960" y="3810762"/>
            <a:ext cx="4023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MODERADA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80960" y="410794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2.624 alunos · FOCO ESTRATÉGICO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89520" y="4480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7589520" y="4480560"/>
            <a:ext cx="42062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680960" y="4590288"/>
            <a:ext cx="4023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1,6%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7680960" y="5109210"/>
            <a:ext cx="4023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SEVERA · IAN=2,5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680960" y="540639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alunos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7472" y="5998464"/>
            <a:ext cx="11475720" cy="621792"/>
          </a:xfrm>
          <a:prstGeom prst="rect">
            <a:avLst/>
          </a:prstGeom>
          <a:solidFill>
            <a:srgbClr val="FFE4EF"/>
          </a:solidFill>
          <a:ln w="1905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347472" y="5998464"/>
            <a:ext cx="64008" cy="62179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48640" y="604418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</a:t>
            </a:r>
            <a:r>
              <a:rPr lang="en-US" sz="11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defasagem severa recebe atenção desproporcional. O segmento de MAIOR ALAVANCAGEM é o moderado — próximo da adequação, vulnerável à deterioração e com 2.624 alunos.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PROBLEMA · DISTRIBUIÇÃO IAN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EVOLUÇÃO TEMPORAL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IAN </a:t>
            </a:r>
            <a:r>
              <a:rPr lang="en-US" sz="2600" b="1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- 2020 a 2024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atingiu mínimo de 6,37 em 2022 - a recuperação de +17% é real, mas ainda sem consolidação estrutural confirmada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159743874"/>
              </p:ext>
            </p:extLst>
          </p:nvPr>
        </p:nvGraphicFramePr>
        <p:xfrm>
          <a:off x="365760" y="1901952"/>
          <a:ext cx="7132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901952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772400" y="1901952"/>
            <a:ext cx="402336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86384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MÍNIMO · 2022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2304288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6,37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7863840" y="31455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14% em 3 anos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pandemia da COVID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72400" y="3977640"/>
            <a:ext cx="4023360" cy="1965960"/>
          </a:xfrm>
          <a:prstGeom prst="rect">
            <a:avLst/>
          </a:prstGeom>
          <a:solidFill>
            <a:srgbClr val="FFE4EF"/>
          </a:solidFill>
          <a:ln w="19050">
            <a:solidFill>
              <a:srgbClr val="FF00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772400" y="3977640"/>
            <a:ext cx="4023360" cy="6400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86384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ATÉ 2024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3708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7863840" y="5212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6,37 → 7,46 em 2 anos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</a:t>
            </a:r>
            <a:r>
              <a:rPr lang="en-US" sz="1050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</a:t>
            </a: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consolidação confirmada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EVOLUÇÃO TEMPORAL · IAN 2020–2024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 GAP PEDAGÓGICO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vs IDA - O Gap Pedagógico de 1,70 Ponto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IEG 1,70 ponto acima do IDA, engajar </a:t>
            </a:r>
            <a:r>
              <a:rPr lang="en-US" sz="1400" b="1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basta, a qualidade da intervenção pedagógica é o elo crítico que converte esforço em aprendizado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output/img/gap_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1569" y="1901952"/>
            <a:ext cx="1097280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7472" y="5742432"/>
            <a:ext cx="11475720" cy="7772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47472" y="5742432"/>
            <a:ext cx="73152" cy="77724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48640" y="57881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+1,70 PONTO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= 7,90  ×  IDA = 6,20  </a:t>
            </a:r>
            <a:r>
              <a:rPr lang="en-US" sz="110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intervenção pedagógica de qualidade é o único elo que converte engajamento em aprendizado efetivo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GAP PEDAGÓGICO · IEG vs IDA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324A2DD1-0EF6-6E9E-CEBD-C480D3083515}"/>
              </a:ext>
            </a:extLst>
          </p:cNvPr>
          <p:cNvSpPr/>
          <p:nvPr/>
        </p:nvSpPr>
        <p:spPr>
          <a:xfrm rot="16200000">
            <a:off x="4159000" y="3617976"/>
            <a:ext cx="3386328" cy="4571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ESTRUTURA DOS INDICADORES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e Estrutura Explicativa do INDE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e IEG sozinhos explicam 79,2% do INDE — são as alavancas de maior ROI para intervenção; adicionar IPV e IAN eleva para 89,7%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output/img/corr_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920240"/>
            <a:ext cx="5029200" cy="411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0807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CORRELAÇÃO · INDICADORES vs INDE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69280" y="1920240"/>
            <a:ext cx="3840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669280" y="1920240"/>
            <a:ext cx="54864" cy="117043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833872" y="1975104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7296912" y="208483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→ INDE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96912" y="2414016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acadêmico é o preditor mais forte.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3218688"/>
            <a:ext cx="3840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669280" y="3218688"/>
            <a:ext cx="54864" cy="117043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33872" y="3273552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7296912" y="338328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→ INDE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96912" y="3712464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tem correlação quase igual ao desempenho.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4517136"/>
            <a:ext cx="3840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669280" y="4517136"/>
            <a:ext cx="54864" cy="1170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833872" y="4572000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0,64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7296912" y="468172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→ INDE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96912" y="501091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 contribui de forma relevante, mas secundária.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692640" y="1920240"/>
            <a:ext cx="2148840" cy="3913632"/>
          </a:xfrm>
          <a:prstGeom prst="rect">
            <a:avLst/>
          </a:prstGeom>
          <a:solidFill>
            <a:srgbClr val="FFE4EF"/>
          </a:solidFill>
          <a:ln w="1905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9692640" y="1920240"/>
            <a:ext cx="2148840" cy="6400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738360" y="2048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+ IEG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738360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738360" y="274320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79,2%</a:t>
            </a:r>
            <a:endParaRPr lang="en-US" sz="4200" dirty="0"/>
          </a:p>
        </p:txBody>
      </p:sp>
      <p:sp>
        <p:nvSpPr>
          <p:cNvPr id="31" name="Text 28"/>
          <p:cNvSpPr/>
          <p:nvPr/>
        </p:nvSpPr>
        <p:spPr>
          <a:xfrm>
            <a:off x="9738360" y="36118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indicadores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explicam 4 em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5 alunos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829800" y="4498848"/>
            <a:ext cx="182880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973836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IAN + IPV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89,7%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738360" y="5120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~10%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mensurável)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ESTRUTURA DOS INDICADORES · CORRELAÇÕES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EXPLICABILIDADE DO MODELO LINEAR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 Progressiva — R² com Indicadores PEDE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apenas 4 indicadores operacionais, explicamos 89,7% do INDE — o desenvolvimento educacional não é aleatório nem imprevisível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1475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capacidade explicativa cresce com cada variável incorporada, confirmando que o INDE é função de indicadores gerenciáveis: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359152"/>
            <a:ext cx="11475720" cy="12618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188720" y="2496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· 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8620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63.7%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188720" y="3401568"/>
            <a:ext cx="457200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188720" y="3401568"/>
            <a:ext cx="2912364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89320" y="25420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desempenho acadêmico já explica quase dois terços da variação do INDE. Ponto de partida sólido.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776472"/>
            <a:ext cx="11475720" cy="12618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384962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188720" y="3913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 +  IEG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2793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79.2%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188720" y="4818888"/>
            <a:ext cx="457200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88720" y="4818888"/>
            <a:ext cx="3621024" cy="9144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89320" y="4544568"/>
            <a:ext cx="1051560" cy="2743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89320" y="45445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+15,5 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9320" y="39593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engajamento captura a maior parte do que o desempenho não explica. Ganho marginal: +15,5 pontos percentuais.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11475720" cy="1261872"/>
          </a:xfrm>
          <a:prstGeom prst="rect">
            <a:avLst/>
          </a:prstGeom>
          <a:solidFill>
            <a:srgbClr val="FFE4EF"/>
          </a:solidFill>
          <a:ln w="1905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526694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1188720" y="5330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 +  IEG  +  IPV  +  IAN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569671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89.7%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1188720" y="6236208"/>
            <a:ext cx="457200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88720" y="6236208"/>
            <a:ext cx="4101084" cy="9144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989320" y="5961888"/>
            <a:ext cx="1051560" cy="27432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989320" y="5961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+10,5 pp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537667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variáveis formam um modelo robusto. A incerteza residual (~10%) é atribuível a fatores não observáveis.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EXPLICABILIDADE · R² PROGRESSIVO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MODELO PREDITIVO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XGBoost — Calibração de Risco Educacional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91,1%: 9 de cada 10 alunos em risco são identificados antes da queda — calibração deliberada que prioriza cobertura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output/img/thr_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920240"/>
            <a:ext cx="6583680" cy="3822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9776" y="5710335"/>
            <a:ext cx="32545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 DECISÃO vs MÉTRICAS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223760" y="1920240"/>
            <a:ext cx="4572000" cy="1133856"/>
          </a:xfrm>
          <a:prstGeom prst="rect">
            <a:avLst/>
          </a:prstGeom>
          <a:solidFill>
            <a:srgbClr val="FFE4EF"/>
          </a:solidFill>
          <a:ln w="1905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223760" y="1920240"/>
            <a:ext cx="54864" cy="1133856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388352" y="1993392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91,1%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44000" y="20848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ALUNOS EM RISCO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0" y="24323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 alunos em risco, 9 capturados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23760" y="3182112"/>
            <a:ext cx="45720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7223760" y="3182112"/>
            <a:ext cx="54864" cy="1133856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388352" y="3255264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46,7%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9144000" y="33467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0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deliberado em favor do recall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23760" y="4443984"/>
            <a:ext cx="45720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7223760" y="4443984"/>
            <a:ext cx="54864" cy="11338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388352" y="4517136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9144000" y="46085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144000" y="4956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discriminativa robusta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29184" y="5961888"/>
            <a:ext cx="11475720" cy="585216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329184" y="5961888"/>
            <a:ext cx="73152" cy="585216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30352" y="599846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CONSIDERAÇÃO ·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0,3 + scale_pos_weight + Optuna. Em contexto educacional, </a:t>
            </a:r>
            <a:r>
              <a:rPr lang="en-US" sz="1100" i="1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omitir supera o custo de uma falsa </a:t>
            </a:r>
            <a:r>
              <a:rPr lang="en-US" sz="1100" i="1" dirty="0" err="1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</a:t>
            </a:r>
            <a:r>
              <a:rPr lang="en-US" sz="1100" i="1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intervenções têm custo marginal baixo; omissões têm custo estrutural alto.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MODELO PREDITIVO · XGBOOST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ANATOMIA DO RISCO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" y="420624"/>
            <a:ext cx="54864" cy="65836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352" y="402336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Risco (SHAP) e Perfis de Cluster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147572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1475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perfis de risco </a:t>
            </a:r>
            <a:r>
              <a:rPr lang="en-US" sz="1400" b="1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tratar todos igualmente desperdiça recursos; IAN_LAG é o maior preditor de risco futuro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1475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output/img/shap_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920240"/>
            <a:ext cx="5303520" cy="34564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54132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DAS FEATURES · SHAP TREEXPLAINER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65760" y="5742432"/>
            <a:ext cx="640080" cy="34747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5760" y="5742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" y="5788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IAN_LAG · Histórico de </a:t>
            </a:r>
            <a:r>
              <a:rPr lang="en-US" sz="1050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preditor mais forte de risco futuro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6217920"/>
            <a:ext cx="64008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65760" y="62179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5568" y="6263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· Desempenho acadêmico </a:t>
            </a:r>
            <a:r>
              <a:rPr lang="en-US" sz="1050" dirty="0" err="1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r>
              <a:rPr lang="en-US" sz="10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segunda variável por importância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1901952"/>
            <a:ext cx="27432" cy="4663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108192" y="1920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DE PERFIL · KMEANS K=4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08192" y="2267712"/>
            <a:ext cx="28346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108192" y="2267712"/>
            <a:ext cx="28346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6217920" y="2414016"/>
            <a:ext cx="4572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217920" y="2414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GRADUAL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0" y="31455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progressiva em múltiplos indicadores ao longo do tempo.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3877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alunos · 45%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070848" y="2267712"/>
            <a:ext cx="28346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9070848" y="2267712"/>
            <a:ext cx="28346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9180576" y="2414016"/>
            <a:ext cx="4572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9180576" y="2414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180576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ESTRUTURAL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180576" y="31455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desempenho crônico sem episódios de melhora.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180576" y="3877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alunos · 7%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08192" y="4443984"/>
            <a:ext cx="28346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6108192" y="4443984"/>
            <a:ext cx="2834640" cy="731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6217920" y="4590288"/>
            <a:ext cx="457200" cy="25603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217920" y="4590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17920" y="4919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APRENDIZADO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17920" y="5321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alto + IDA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barreira psicossocial (IPS 3,64).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21792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alunos · 22%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070848" y="4443984"/>
            <a:ext cx="28346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9070848" y="4443984"/>
            <a:ext cx="2834640" cy="7315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9180576" y="4590288"/>
            <a:ext cx="457200" cy="256032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9180576" y="4590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180576" y="4919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RECENTE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180576" y="5321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aguda após período de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atenção imediata.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180576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alunos · 25%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5760" y="6565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166360" y="6565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ANATOMIA DO RISCO · DRIVERS + CLUSTERS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47472" y="237744"/>
            <a:ext cx="1463040" cy="292608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8281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gestão preditiva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 em produção · Community Cloud · diagnóstico individualizado por aluno em tempo real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5303520" cy="3401568"/>
          </a:xfrm>
          <a:prstGeom prst="rect">
            <a:avLst/>
          </a:prstGeom>
          <a:solidFill>
            <a:srgbClr val="141A2E"/>
          </a:solidFill>
          <a:ln w="1905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303520" cy="329184"/>
          </a:xfrm>
          <a:prstGeom prst="rect">
            <a:avLst/>
          </a:prstGeom>
          <a:solidFill>
            <a:srgbClr val="1E264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12064" y="273405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13232" y="27340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14400" y="273405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234440" y="2660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streamlit.app · passos-magicos-preditivo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5029200" cy="54864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02920" y="5303520"/>
            <a:ext cx="1371600" cy="502920"/>
          </a:xfrm>
          <a:prstGeom prst="rect">
            <a:avLst/>
          </a:prstGeom>
          <a:solidFill>
            <a:srgbClr val="1E264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2920" y="5321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596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84832" y="5303520"/>
            <a:ext cx="1371600" cy="502920"/>
          </a:xfrm>
          <a:prstGeom prst="rect">
            <a:avLst/>
          </a:prstGeom>
          <a:solidFill>
            <a:srgbClr val="1E264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084832" y="5321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84832" y="5596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66744" y="5303520"/>
            <a:ext cx="1371600" cy="502920"/>
          </a:xfrm>
          <a:prstGeom prst="rect">
            <a:avLst/>
          </a:prstGeom>
          <a:solidFill>
            <a:srgbClr val="1E264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66744" y="5321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66744" y="5596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9320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REATIVA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16752" y="298094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3620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tardio · queda já consolidada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16752" y="343814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36208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genérica · sem segmentação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16752" y="389534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23620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custo por aluno · ineficiência alocativa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16752" y="435254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236208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por intuição · sem rastro analítico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96528" y="3218688"/>
            <a:ext cx="457200" cy="512064"/>
          </a:xfrm>
          <a:prstGeom prst="rightArrow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436608" y="26060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PREDITIVA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54896" y="2980944"/>
            <a:ext cx="91440" cy="9144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674352" y="29443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antes da queda · recall 91,1%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54896" y="3438144"/>
            <a:ext cx="91440" cy="9144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674352" y="34015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por cluster · 4 perfis distintos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54896" y="3895344"/>
            <a:ext cx="91440" cy="9144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674352" y="38587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baixo · alta cobertura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54896" y="4352544"/>
            <a:ext cx="91440" cy="9144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9674352" y="43159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por evidência · SHAP rastreável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61888" y="4956048"/>
            <a:ext cx="2907792" cy="1051560"/>
          </a:xfrm>
          <a:prstGeom prst="rect">
            <a:avLst/>
          </a:prstGeom>
          <a:solidFill>
            <a:srgbClr val="141A2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961888" y="4956048"/>
            <a:ext cx="54864" cy="105156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144768" y="50657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Community Cloud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539496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 em produção · acesso público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70848" y="4956048"/>
            <a:ext cx="2907792" cy="1051560"/>
          </a:xfrm>
          <a:prstGeom prst="rect">
            <a:avLst/>
          </a:prstGeom>
          <a:solidFill>
            <a:srgbClr val="141A2E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9070848" y="4956048"/>
            <a:ext cx="54864" cy="105156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9253728" y="50657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Explicabilidade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253728" y="539496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rastreável por feature por aluno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7472" y="6172200"/>
            <a:ext cx="11475720" cy="457200"/>
          </a:xfrm>
          <a:prstGeom prst="rect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502920" y="61996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dados, cada aluno recebe o diagnóstico certo, na hora certa, com a ação certa.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1430000" y="67665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D087E11A-8157-0C1E-5AAE-AB9D562C3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10" y="3245769"/>
            <a:ext cx="4579618" cy="1902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1255</Words>
  <Application>Microsoft Office PowerPoint</Application>
  <PresentationFormat>Widescreen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Preditivo de Risco Educacional</dc:title>
  <dc:subject>PptxGenJS Presentation</dc:subject>
  <dc:creator>Datathon FIAP PosTech · Passos Mágicos</dc:creator>
  <cp:lastModifiedBy>Vinicius de Marchi Franciscon</cp:lastModifiedBy>
  <cp:revision>2</cp:revision>
  <dcterms:created xsi:type="dcterms:W3CDTF">2026-05-16T19:48:23Z</dcterms:created>
  <dcterms:modified xsi:type="dcterms:W3CDTF">2026-05-16T21:01:41Z</dcterms:modified>
</cp:coreProperties>
</file>